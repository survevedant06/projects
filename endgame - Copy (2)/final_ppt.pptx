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9" r:id="rId2"/>
    <p:sldId id="261" r:id="rId3"/>
    <p:sldId id="262" r:id="rId4"/>
    <p:sldId id="263" r:id="rId5"/>
    <p:sldId id="264" r:id="rId6"/>
    <p:sldId id="266" r:id="rId7"/>
    <p:sldId id="265" r:id="rId8"/>
    <p:sldId id="281" r:id="rId9"/>
    <p:sldId id="268" r:id="rId10"/>
    <p:sldId id="276" r:id="rId11"/>
    <p:sldId id="277" r:id="rId12"/>
    <p:sldId id="279" r:id="rId13"/>
    <p:sldId id="27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53" autoAdjust="0"/>
    <p:restoredTop sz="93460" autoAdjust="0"/>
  </p:normalViewPr>
  <p:slideViewPr>
    <p:cSldViewPr snapToGrid="0">
      <p:cViewPr varScale="1">
        <p:scale>
          <a:sx n="93" d="100"/>
          <a:sy n="93" d="100"/>
        </p:scale>
        <p:origin x="35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dant surve" userId="7fbf1e68a4543029" providerId="LiveId" clId="{700C8EB7-2176-40CD-83F5-5BFDDC0D01C2}"/>
    <pc:docChg chg="delSld">
      <pc:chgData name="vedant surve" userId="7fbf1e68a4543029" providerId="LiveId" clId="{700C8EB7-2176-40CD-83F5-5BFDDC0D01C2}" dt="2025-04-15T03:36:57.609" v="0" actId="47"/>
      <pc:docMkLst>
        <pc:docMk/>
      </pc:docMkLst>
      <pc:sldChg chg="del">
        <pc:chgData name="vedant surve" userId="7fbf1e68a4543029" providerId="LiveId" clId="{700C8EB7-2176-40CD-83F5-5BFDDC0D01C2}" dt="2025-04-15T03:36:57.609" v="0" actId="47"/>
        <pc:sldMkLst>
          <pc:docMk/>
          <pc:sldMk cId="3520169849" sldId="28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5A78A4-9412-4F98-B99B-25C7F801F365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04BD5F-01DA-42D0-9994-3167AA6E37E4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04BD5F-01DA-42D0-9994-3167AA6E37E4}" type="slidenum">
              <a:rPr lang="en-IN" smtClean="0"/>
              <a:t>2</a:t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04BD5F-01DA-42D0-9994-3167AA6E37E4}" type="slidenum">
              <a:rPr lang="en-IN" smtClean="0"/>
              <a:t>3</a:t>
            </a:fld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04BD5F-01DA-42D0-9994-3167AA6E37E4}" type="slidenum">
              <a:rPr lang="en-IN" smtClean="0"/>
              <a:t>4</a:t>
            </a:fld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04BD5F-01DA-42D0-9994-3167AA6E37E4}" type="slidenum">
              <a:rPr lang="en-IN" smtClean="0"/>
              <a:t>5</a:t>
            </a:fld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04BD5F-01DA-42D0-9994-3167AA6E37E4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03397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988EB-1051-60DC-6C17-5D70FDE7D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E2519C-F55D-0E38-4C66-A9AD9446B1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63D963-6D07-BC5A-FD77-E5B87A96DE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A37B3D-9A7E-F008-E843-BA92C42C4B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04BD5F-01DA-42D0-9994-3167AA6E37E4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86286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6687F-42DF-6D5E-3133-7B49F5ED9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511C13-D70A-0B63-7545-3AC28D5E4A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2F655B-BB72-4D52-335E-71893C4E99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D6EF99-C452-0626-A967-55E9E99FE8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04BD5F-01DA-42D0-9994-3167AA6E37E4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93561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439DB-A06B-41D9-892C-B9849226E8C2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C3AF0-AD94-457E-AA2F-0E623AE8FBC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439DB-A06B-41D9-892C-B9849226E8C2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C3AF0-AD94-457E-AA2F-0E623AE8FBC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439DB-A06B-41D9-892C-B9849226E8C2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C3AF0-AD94-457E-AA2F-0E623AE8FBC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439DB-A06B-41D9-892C-B9849226E8C2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C3AF0-AD94-457E-AA2F-0E623AE8FBC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439DB-A06B-41D9-892C-B9849226E8C2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C3AF0-AD94-457E-AA2F-0E623AE8FBC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439DB-A06B-41D9-892C-B9849226E8C2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C3AF0-AD94-457E-AA2F-0E623AE8FBC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439DB-A06B-41D9-892C-B9849226E8C2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C3AF0-AD94-457E-AA2F-0E623AE8FBC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439DB-A06B-41D9-892C-B9849226E8C2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C3AF0-AD94-457E-AA2F-0E623AE8FBC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439DB-A06B-41D9-892C-B9849226E8C2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C3AF0-AD94-457E-AA2F-0E623AE8FBC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439DB-A06B-41D9-892C-B9849226E8C2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C3AF0-AD94-457E-AA2F-0E623AE8FBC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439DB-A06B-41D9-892C-B9849226E8C2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C3AF0-AD94-457E-AA2F-0E623AE8FBCA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1439DB-A06B-41D9-892C-B9849226E8C2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0C3AF0-AD94-457E-AA2F-0E623AE8FBCA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4" Type="http://schemas.openxmlformats.org/officeDocument/2006/relationships/image" Target="../media/image8.svg"/><Relationship Id="rId9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microsoft.com/office/2007/relationships/hdphoto" Target="../media/hdphoto1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4" Type="http://schemas.openxmlformats.org/officeDocument/2006/relationships/image" Target="../media/image8.svg"/><Relationship Id="rId9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5" Type="http://schemas.openxmlformats.org/officeDocument/2006/relationships/image" Target="../media/image8.svg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5" Type="http://schemas.openxmlformats.org/officeDocument/2006/relationships/image" Target="../media/image8.svg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1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eg"/><Relationship Id="rId5" Type="http://schemas.openxmlformats.org/officeDocument/2006/relationships/image" Target="../media/image8.svg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6311" y="-167148"/>
            <a:ext cx="12693445" cy="731519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720" y="3665743"/>
            <a:ext cx="2869173" cy="203696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1116" y="778767"/>
            <a:ext cx="5653401" cy="66078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6311" y="-167148"/>
            <a:ext cx="12693445" cy="731519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8956" y="1040024"/>
            <a:ext cx="5653401" cy="660787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720" y="3665743"/>
            <a:ext cx="2869173" cy="2036968"/>
          </a:xfrm>
          <a:prstGeom prst="rect">
            <a:avLst/>
          </a:prstGeom>
        </p:spPr>
      </p:pic>
      <p:sp>
        <p:nvSpPr>
          <p:cNvPr id="2" name="Speech Bubble: Rectangle with Corners Rounded 1"/>
          <p:cNvSpPr/>
          <p:nvPr/>
        </p:nvSpPr>
        <p:spPr>
          <a:xfrm>
            <a:off x="7353315" y="-167148"/>
            <a:ext cx="4482192" cy="1747157"/>
          </a:xfrm>
          <a:prstGeom prst="wedgeRoundRectCallou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7698921" y="228600"/>
            <a:ext cx="37310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 wish that my old windows laptop was automated , or had any special AI features, so that my work would become  easier.</a:t>
            </a:r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6311" y="-167148"/>
            <a:ext cx="12693445" cy="731519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8956" y="1040024"/>
            <a:ext cx="5653401" cy="660787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720" y="3665743"/>
            <a:ext cx="2869173" cy="2036968"/>
          </a:xfrm>
          <a:prstGeom prst="rect">
            <a:avLst/>
          </a:prstGeom>
        </p:spPr>
      </p:pic>
      <p:sp>
        <p:nvSpPr>
          <p:cNvPr id="2" name="Speech Bubble: Rectangle with Corners Rounded 1"/>
          <p:cNvSpPr/>
          <p:nvPr/>
        </p:nvSpPr>
        <p:spPr>
          <a:xfrm>
            <a:off x="7353315" y="-167148"/>
            <a:ext cx="4482192" cy="1747157"/>
          </a:xfrm>
          <a:prstGeom prst="wedgeRoundRectCallou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7698921" y="228600"/>
            <a:ext cx="37310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Let me think about some Idea through which any old/new laptop can have AI features and tasks can be automated through voice prompts</a:t>
            </a:r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6311" y="-167148"/>
            <a:ext cx="12693445" cy="731519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8956" y="1040024"/>
            <a:ext cx="5653401" cy="660787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720" y="3665743"/>
            <a:ext cx="2869173" cy="2036968"/>
          </a:xfrm>
          <a:prstGeom prst="rect">
            <a:avLst/>
          </a:prstGeom>
        </p:spPr>
      </p:pic>
      <p:sp>
        <p:nvSpPr>
          <p:cNvPr id="2" name="Speech Bubble: Rectangle with Corners Rounded 1"/>
          <p:cNvSpPr/>
          <p:nvPr/>
        </p:nvSpPr>
        <p:spPr>
          <a:xfrm>
            <a:off x="7353315" y="-167148"/>
            <a:ext cx="4482192" cy="1747157"/>
          </a:xfrm>
          <a:prstGeom prst="wedgeRoundRectCallou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8580664" y="449036"/>
            <a:ext cx="3731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Arial Black" panose="020B0A04020102020204" pitchFamily="34" charset="0"/>
              </a:rPr>
              <a:t>IDEA!!!!!!!</a:t>
            </a:r>
            <a:endParaRPr lang="en-IN" b="1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6311" y="-167148"/>
            <a:ext cx="12693445" cy="731519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8956" y="1040024"/>
            <a:ext cx="5653401" cy="660787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720" y="3665743"/>
            <a:ext cx="2869173" cy="2036968"/>
          </a:xfrm>
          <a:prstGeom prst="rect">
            <a:avLst/>
          </a:prstGeom>
        </p:spPr>
      </p:pic>
      <p:sp>
        <p:nvSpPr>
          <p:cNvPr id="2" name="Speech Bubble: Rectangle with Corners Rounded 1"/>
          <p:cNvSpPr/>
          <p:nvPr/>
        </p:nvSpPr>
        <p:spPr>
          <a:xfrm>
            <a:off x="7353315" y="-167148"/>
            <a:ext cx="4482192" cy="1747157"/>
          </a:xfrm>
          <a:prstGeom prst="wedgeRoundRectCallou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8104428" y="217013"/>
            <a:ext cx="37310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Why not I create a Jarvis for Windows…. </a:t>
            </a:r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910349" y="2367604"/>
            <a:ext cx="833775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0" dirty="0">
                <a:latin typeface="Arial Black" panose="020B0A04020102020204" pitchFamily="34" charset="0"/>
              </a:rPr>
              <a:t>Introducing…</a:t>
            </a:r>
            <a:endParaRPr lang="en-IN" sz="70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477730" y="2111965"/>
            <a:ext cx="833775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0" dirty="0">
                <a:latin typeface="Arial Black" panose="020B0A04020102020204" pitchFamily="34" charset="0"/>
              </a:rPr>
              <a:t>Jarvis – The AI Assistant</a:t>
            </a:r>
            <a:endParaRPr lang="en-IN" sz="70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5F66DE-F042-F639-2577-B6D4691A5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0576299-4D76-1015-CE2A-463E3EEC1B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9732" y="1844843"/>
            <a:ext cx="6212536" cy="275122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D09A565-B67E-C5A5-ACFF-F227B6A7AC0B}"/>
              </a:ext>
            </a:extLst>
          </p:cNvPr>
          <p:cNvSpPr/>
          <p:nvPr/>
        </p:nvSpPr>
        <p:spPr>
          <a:xfrm>
            <a:off x="3473116" y="990782"/>
            <a:ext cx="2622884" cy="7058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 can Send Messages through WhatsApp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CD7CCA-D677-AD73-EF52-BCFC441F87B0}"/>
              </a:ext>
            </a:extLst>
          </p:cNvPr>
          <p:cNvSpPr txBox="1"/>
          <p:nvPr/>
        </p:nvSpPr>
        <p:spPr>
          <a:xfrm>
            <a:off x="3601453" y="117909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2AFC27E-B307-1A4C-48C5-65C461A5A1FD}"/>
              </a:ext>
            </a:extLst>
          </p:cNvPr>
          <p:cNvSpPr/>
          <p:nvPr/>
        </p:nvSpPr>
        <p:spPr>
          <a:xfrm>
            <a:off x="209867" y="1825426"/>
            <a:ext cx="2622884" cy="7058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 can access the Wikipedia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8D1D823-A3F3-B2BB-77FA-F7A6FD8E347E}"/>
              </a:ext>
            </a:extLst>
          </p:cNvPr>
          <p:cNvSpPr/>
          <p:nvPr/>
        </p:nvSpPr>
        <p:spPr>
          <a:xfrm>
            <a:off x="6435368" y="990781"/>
            <a:ext cx="2622884" cy="7058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 can open Applications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EA1DD18-8A57-662A-0344-648A44EF9420}"/>
              </a:ext>
            </a:extLst>
          </p:cNvPr>
          <p:cNvSpPr/>
          <p:nvPr/>
        </p:nvSpPr>
        <p:spPr>
          <a:xfrm>
            <a:off x="9359249" y="1845587"/>
            <a:ext cx="2622884" cy="7058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 have my own independent GUI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7BBD23-FFF7-DA97-4B4D-EEA3F1FFA251}"/>
              </a:ext>
            </a:extLst>
          </p:cNvPr>
          <p:cNvSpPr/>
          <p:nvPr/>
        </p:nvSpPr>
        <p:spPr>
          <a:xfrm>
            <a:off x="9359249" y="2742745"/>
            <a:ext cx="2622884" cy="7058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You can play chess with me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04ED4B5-D653-347B-6645-79EB2773A8D3}"/>
              </a:ext>
            </a:extLst>
          </p:cNvPr>
          <p:cNvSpPr/>
          <p:nvPr/>
        </p:nvSpPr>
        <p:spPr>
          <a:xfrm>
            <a:off x="9359249" y="3639903"/>
            <a:ext cx="2622884" cy="7058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 can Create a PowerPoint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F6754E4-A4A7-1F9F-056B-735F44001EEC}"/>
              </a:ext>
            </a:extLst>
          </p:cNvPr>
          <p:cNvSpPr/>
          <p:nvPr/>
        </p:nvSpPr>
        <p:spPr>
          <a:xfrm>
            <a:off x="209867" y="2723147"/>
            <a:ext cx="2622884" cy="7058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 can play your favorite music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FFF9123-8DB7-7969-6C06-BD15CCF05989}"/>
              </a:ext>
            </a:extLst>
          </p:cNvPr>
          <p:cNvSpPr/>
          <p:nvPr/>
        </p:nvSpPr>
        <p:spPr>
          <a:xfrm>
            <a:off x="118427" y="3639903"/>
            <a:ext cx="2622884" cy="7058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 can remember things you say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E50BB44-0676-F854-252E-7E48A12870F5}"/>
              </a:ext>
            </a:extLst>
          </p:cNvPr>
          <p:cNvSpPr/>
          <p:nvPr/>
        </p:nvSpPr>
        <p:spPr>
          <a:xfrm>
            <a:off x="3473116" y="4859103"/>
            <a:ext cx="2622884" cy="7058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 am as smart as Gemini Ai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04BA07F-C667-FCBA-134E-24047EE45357}"/>
              </a:ext>
            </a:extLst>
          </p:cNvPr>
          <p:cNvSpPr/>
          <p:nvPr/>
        </p:nvSpPr>
        <p:spPr>
          <a:xfrm>
            <a:off x="6435368" y="4859103"/>
            <a:ext cx="2622884" cy="7058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I’ll remind you about your daily tasks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3201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-13804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352001" y="0"/>
            <a:ext cx="12698881" cy="2057400"/>
            <a:chOff x="0" y="0"/>
            <a:chExt cx="5016842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016842" cy="812800"/>
            </a:xfrm>
            <a:custGeom>
              <a:avLst/>
              <a:gdLst/>
              <a:ahLst/>
              <a:cxnLst/>
              <a:rect l="l" t="t" r="r" b="b"/>
              <a:pathLst>
                <a:path w="5016842" h="812800">
                  <a:moveTo>
                    <a:pt x="0" y="0"/>
                  </a:moveTo>
                  <a:lnTo>
                    <a:pt x="5016842" y="0"/>
                  </a:lnTo>
                  <a:lnTo>
                    <a:pt x="501684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C5739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5016842" cy="83185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905"/>
                </a:lnSpc>
              </a:pPr>
              <a:endParaRPr sz="1200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85800" y="2924732"/>
            <a:ext cx="2578642" cy="367019"/>
            <a:chOff x="0" y="0"/>
            <a:chExt cx="1178269" cy="16770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78269" cy="167703"/>
            </a:xfrm>
            <a:custGeom>
              <a:avLst/>
              <a:gdLst/>
              <a:ahLst/>
              <a:cxnLst/>
              <a:rect l="l" t="t" r="r" b="b"/>
              <a:pathLst>
                <a:path w="1178269" h="167703">
                  <a:moveTo>
                    <a:pt x="0" y="0"/>
                  </a:moveTo>
                  <a:lnTo>
                    <a:pt x="1178269" y="0"/>
                  </a:lnTo>
                  <a:lnTo>
                    <a:pt x="1178269" y="167703"/>
                  </a:lnTo>
                  <a:lnTo>
                    <a:pt x="0" y="167703"/>
                  </a:lnTo>
                  <a:close/>
                </a:path>
              </a:pathLst>
            </a:custGeom>
            <a:solidFill>
              <a:srgbClr val="1C5739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1178269" cy="21532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285"/>
                </a:lnSpc>
                <a:spcBef>
                  <a:spcPct val="0"/>
                </a:spcBef>
              </a:pPr>
              <a:r>
                <a:rPr lang="en-US" sz="1655" spc="16" dirty="0">
                  <a:solidFill>
                    <a:srgbClr val="FFFFFF"/>
                  </a:solidFill>
                  <a:latin typeface="Open Sauce Italics"/>
                </a:rPr>
                <a:t>Laptop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460653" y="745324"/>
            <a:ext cx="7142428" cy="880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60"/>
              </a:lnSpc>
            </a:pPr>
            <a:r>
              <a:rPr lang="en-US" sz="5260" spc="515">
                <a:solidFill>
                  <a:srgbClr val="FFFFFF"/>
                </a:solidFill>
                <a:latin typeface="Codec Pro ExtraBold"/>
              </a:rPr>
              <a:t>Resources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3554204" y="2858763"/>
            <a:ext cx="2578642" cy="367019"/>
            <a:chOff x="0" y="0"/>
            <a:chExt cx="1178269" cy="16770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78269" cy="167703"/>
            </a:xfrm>
            <a:custGeom>
              <a:avLst/>
              <a:gdLst/>
              <a:ahLst/>
              <a:cxnLst/>
              <a:rect l="l" t="t" r="r" b="b"/>
              <a:pathLst>
                <a:path w="1178269" h="167703">
                  <a:moveTo>
                    <a:pt x="0" y="0"/>
                  </a:moveTo>
                  <a:lnTo>
                    <a:pt x="1178269" y="0"/>
                  </a:lnTo>
                  <a:lnTo>
                    <a:pt x="1178269" y="167703"/>
                  </a:lnTo>
                  <a:lnTo>
                    <a:pt x="0" y="167703"/>
                  </a:lnTo>
                  <a:close/>
                </a:path>
              </a:pathLst>
            </a:custGeom>
            <a:solidFill>
              <a:srgbClr val="1C5739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1178269" cy="21532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285"/>
                </a:lnSpc>
                <a:spcBef>
                  <a:spcPct val="0"/>
                </a:spcBef>
              </a:pPr>
              <a:r>
                <a:rPr lang="en-US" sz="1655" spc="16" dirty="0">
                  <a:solidFill>
                    <a:srgbClr val="FFFFFF"/>
                  </a:solidFill>
                  <a:latin typeface="Open Sauce Italics"/>
                </a:rPr>
                <a:t>Python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423824" y="2858763"/>
            <a:ext cx="2578642" cy="367019"/>
            <a:chOff x="0" y="0"/>
            <a:chExt cx="1178269" cy="16770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78269" cy="167703"/>
            </a:xfrm>
            <a:custGeom>
              <a:avLst/>
              <a:gdLst/>
              <a:ahLst/>
              <a:cxnLst/>
              <a:rect l="l" t="t" r="r" b="b"/>
              <a:pathLst>
                <a:path w="1178269" h="167703">
                  <a:moveTo>
                    <a:pt x="0" y="0"/>
                  </a:moveTo>
                  <a:lnTo>
                    <a:pt x="1178269" y="0"/>
                  </a:lnTo>
                  <a:lnTo>
                    <a:pt x="1178269" y="167703"/>
                  </a:lnTo>
                  <a:lnTo>
                    <a:pt x="0" y="167703"/>
                  </a:lnTo>
                  <a:close/>
                </a:path>
              </a:pathLst>
            </a:custGeom>
            <a:solidFill>
              <a:srgbClr val="1C5739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1178269" cy="21532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285"/>
                </a:lnSpc>
                <a:spcBef>
                  <a:spcPct val="0"/>
                </a:spcBef>
              </a:pPr>
              <a:r>
                <a:rPr lang="en-US" sz="1655" spc="16" dirty="0" err="1">
                  <a:solidFill>
                    <a:srgbClr val="FFFFFF"/>
                  </a:solidFill>
                  <a:latin typeface="Open Sauce Italics"/>
                </a:rPr>
                <a:t>VsCode</a:t>
              </a:r>
              <a:endParaRPr lang="en-US" sz="1655" spc="16" dirty="0">
                <a:solidFill>
                  <a:srgbClr val="FFFFFF"/>
                </a:solidFill>
                <a:latin typeface="Open Sauce Italics"/>
              </a:endParaRPr>
            </a:p>
          </p:txBody>
        </p:sp>
      </p:grpSp>
      <p:sp>
        <p:nvSpPr>
          <p:cNvPr id="19" name="Freeform 19"/>
          <p:cNvSpPr/>
          <p:nvPr/>
        </p:nvSpPr>
        <p:spPr>
          <a:xfrm>
            <a:off x="10272321" y="-1435435"/>
            <a:ext cx="2744237" cy="2744237"/>
          </a:xfrm>
          <a:custGeom>
            <a:avLst/>
            <a:gdLst/>
            <a:ahLst/>
            <a:cxnLst/>
            <a:rect l="l" t="t" r="r" b="b"/>
            <a:pathLst>
              <a:path w="4116356" h="4116356">
                <a:moveTo>
                  <a:pt x="0" y="0"/>
                </a:moveTo>
                <a:lnTo>
                  <a:pt x="4116355" y="0"/>
                </a:lnTo>
                <a:lnTo>
                  <a:pt x="4116355" y="4116356"/>
                </a:lnTo>
                <a:lnTo>
                  <a:pt x="0" y="41163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-1734919" y="0"/>
            <a:ext cx="2170725" cy="2170725"/>
          </a:xfrm>
          <a:custGeom>
            <a:avLst/>
            <a:gdLst/>
            <a:ahLst/>
            <a:cxnLst/>
            <a:rect l="l" t="t" r="r" b="b"/>
            <a:pathLst>
              <a:path w="3256087" h="3256087">
                <a:moveTo>
                  <a:pt x="0" y="0"/>
                </a:moveTo>
                <a:lnTo>
                  <a:pt x="3256087" y="0"/>
                </a:lnTo>
                <a:lnTo>
                  <a:pt x="3256087" y="3256087"/>
                </a:lnTo>
                <a:lnTo>
                  <a:pt x="0" y="32560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22" name="Group 22"/>
          <p:cNvGrpSpPr/>
          <p:nvPr/>
        </p:nvGrpSpPr>
        <p:grpSpPr>
          <a:xfrm>
            <a:off x="9294566" y="2858763"/>
            <a:ext cx="2578642" cy="367019"/>
            <a:chOff x="0" y="0"/>
            <a:chExt cx="1178269" cy="16770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178269" cy="167703"/>
            </a:xfrm>
            <a:custGeom>
              <a:avLst/>
              <a:gdLst/>
              <a:ahLst/>
              <a:cxnLst/>
              <a:rect l="l" t="t" r="r" b="b"/>
              <a:pathLst>
                <a:path w="1178269" h="167703">
                  <a:moveTo>
                    <a:pt x="0" y="0"/>
                  </a:moveTo>
                  <a:lnTo>
                    <a:pt x="1178269" y="0"/>
                  </a:lnTo>
                  <a:lnTo>
                    <a:pt x="1178269" y="167703"/>
                  </a:lnTo>
                  <a:lnTo>
                    <a:pt x="0" y="167703"/>
                  </a:lnTo>
                  <a:close/>
                </a:path>
              </a:pathLst>
            </a:custGeom>
            <a:solidFill>
              <a:srgbClr val="1C5739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1178269" cy="21532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2285"/>
                </a:lnSpc>
                <a:spcBef>
                  <a:spcPct val="0"/>
                </a:spcBef>
              </a:pPr>
              <a:r>
                <a:rPr lang="en-US" sz="1655" spc="16" dirty="0">
                  <a:solidFill>
                    <a:srgbClr val="FFFFFF"/>
                  </a:solidFill>
                  <a:latin typeface="Open Sauce Italics"/>
                </a:rPr>
                <a:t>Gemini AI’s API</a:t>
              </a:r>
            </a:p>
          </p:txBody>
        </p:sp>
      </p:grpSp>
      <p:pic>
        <p:nvPicPr>
          <p:cNvPr id="26" name="Picture 2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912" y="3217500"/>
            <a:ext cx="2573191" cy="2111419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14104" y="3217499"/>
            <a:ext cx="2481895" cy="2111419"/>
          </a:xfrm>
          <a:prstGeom prst="rect">
            <a:avLst/>
          </a:prstGeom>
          <a:effectLst>
            <a:outerShdw blurRad="50800" dist="50800" dir="4200000" sx="1000" sy="1000" algn="ctr" rotWithShape="0">
              <a:srgbClr val="000000">
                <a:alpha val="43137"/>
              </a:srgbClr>
            </a:outerShdw>
            <a:softEdge rad="0"/>
          </a:effectLst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422608" y="3217499"/>
            <a:ext cx="2578641" cy="211141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291011" y="3260198"/>
            <a:ext cx="2578641" cy="206871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9EECB-0D4A-A450-8341-3CEC471A0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15080DD7-5DB6-DB6B-AD1C-0A0E8385D8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7213" y="-63317"/>
            <a:ext cx="13393320" cy="7330597"/>
          </a:xfrm>
          <a:prstGeom prst="rect">
            <a:avLst/>
          </a:prstGeom>
          <a:effectLst>
            <a:reflection blurRad="1270000" stA="4000" endPos="65000" dist="50800" dir="5400000" sy="-100000" algn="bl" rotWithShape="0"/>
          </a:effectLst>
        </p:spPr>
      </p:pic>
      <p:sp>
        <p:nvSpPr>
          <p:cNvPr id="19" name="Freeform 19">
            <a:extLst>
              <a:ext uri="{FF2B5EF4-FFF2-40B4-BE49-F238E27FC236}">
                <a16:creationId xmlns:a16="http://schemas.microsoft.com/office/drawing/2014/main" id="{C9059568-C2AA-B622-18C3-83B81A7DFD6D}"/>
              </a:ext>
            </a:extLst>
          </p:cNvPr>
          <p:cNvSpPr/>
          <p:nvPr/>
        </p:nvSpPr>
        <p:spPr>
          <a:xfrm>
            <a:off x="10272321" y="-1435435"/>
            <a:ext cx="2744237" cy="2744237"/>
          </a:xfrm>
          <a:custGeom>
            <a:avLst/>
            <a:gdLst/>
            <a:ahLst/>
            <a:cxnLst/>
            <a:rect l="l" t="t" r="r" b="b"/>
            <a:pathLst>
              <a:path w="4116356" h="4116356">
                <a:moveTo>
                  <a:pt x="0" y="0"/>
                </a:moveTo>
                <a:lnTo>
                  <a:pt x="4116355" y="0"/>
                </a:lnTo>
                <a:lnTo>
                  <a:pt x="4116355" y="4116356"/>
                </a:lnTo>
                <a:lnTo>
                  <a:pt x="0" y="41163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55CAAC4A-CA92-269F-A45E-23B9C75E732F}"/>
              </a:ext>
            </a:extLst>
          </p:cNvPr>
          <p:cNvSpPr/>
          <p:nvPr/>
        </p:nvSpPr>
        <p:spPr>
          <a:xfrm>
            <a:off x="-1734919" y="0"/>
            <a:ext cx="2170725" cy="2170725"/>
          </a:xfrm>
          <a:custGeom>
            <a:avLst/>
            <a:gdLst/>
            <a:ahLst/>
            <a:cxnLst/>
            <a:rect l="l" t="t" r="r" b="b"/>
            <a:pathLst>
              <a:path w="3256087" h="3256087">
                <a:moveTo>
                  <a:pt x="0" y="0"/>
                </a:moveTo>
                <a:lnTo>
                  <a:pt x="3256087" y="0"/>
                </a:lnTo>
                <a:lnTo>
                  <a:pt x="3256087" y="3256087"/>
                </a:lnTo>
                <a:lnTo>
                  <a:pt x="0" y="32560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58C1A36-7D24-C6AB-C440-E419F698F6B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6668" y="698594"/>
            <a:ext cx="3975522" cy="3262095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E771A60-06E4-7075-F38A-B4A411FD5E8E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35000"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707466" y="1018955"/>
            <a:ext cx="3304758" cy="2711703"/>
          </a:xfrm>
          <a:prstGeom prst="rect">
            <a:avLst/>
          </a:prstGeom>
          <a:effectLst>
            <a:outerShdw blurRad="50800" dist="50800" dir="4200000" sx="1000" sy="1000" algn="ctr" rotWithShape="0">
              <a:srgbClr val="000000">
                <a:alpha val="43137"/>
              </a:srgbClr>
            </a:outerShdw>
            <a:softEdge rad="0"/>
          </a:effec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997BDAE-F98C-3D14-B289-1339C530ED1F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385954" y="1018956"/>
            <a:ext cx="3304800" cy="2706007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91DE1F58-91A5-3C8C-0BD3-1EBA1BAC339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358649" y="1018955"/>
            <a:ext cx="3304800" cy="2730053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D482F4E1-B03C-9797-66E8-0BE5A752220D}"/>
              </a:ext>
            </a:extLst>
          </p:cNvPr>
          <p:cNvSpPr txBox="1"/>
          <p:nvPr/>
        </p:nvSpPr>
        <p:spPr>
          <a:xfrm>
            <a:off x="2876338" y="3940404"/>
            <a:ext cx="710664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Laptop :</a:t>
            </a:r>
          </a:p>
          <a:p>
            <a:r>
              <a:rPr lang="en-IN" sz="4000" dirty="0">
                <a:solidFill>
                  <a:schemeClr val="bg1"/>
                </a:solidFill>
              </a:rPr>
              <a:t>We used Laptop and Desktop to create our project since our project only supports desktop</a:t>
            </a:r>
            <a:endParaRPr lang="en-US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94373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3BF17-3529-885C-6EC3-D88224ED2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CCDB445B-0EE5-579F-D2E2-78C13664C2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7213" y="-63317"/>
            <a:ext cx="13393320" cy="7330597"/>
          </a:xfrm>
          <a:prstGeom prst="rect">
            <a:avLst/>
          </a:prstGeom>
          <a:effectLst>
            <a:reflection blurRad="1270000" stA="4000" endPos="65000" dist="50800" dir="5400000" sy="-100000" algn="bl" rotWithShape="0"/>
          </a:effectLst>
        </p:spPr>
      </p:pic>
      <p:sp>
        <p:nvSpPr>
          <p:cNvPr id="19" name="Freeform 19">
            <a:extLst>
              <a:ext uri="{FF2B5EF4-FFF2-40B4-BE49-F238E27FC236}">
                <a16:creationId xmlns:a16="http://schemas.microsoft.com/office/drawing/2014/main" id="{B4751D6C-E2CA-2B8F-0D4E-78E1FD5AF7D8}"/>
              </a:ext>
            </a:extLst>
          </p:cNvPr>
          <p:cNvSpPr/>
          <p:nvPr/>
        </p:nvSpPr>
        <p:spPr>
          <a:xfrm>
            <a:off x="10272321" y="-1435435"/>
            <a:ext cx="2744237" cy="2744237"/>
          </a:xfrm>
          <a:custGeom>
            <a:avLst/>
            <a:gdLst/>
            <a:ahLst/>
            <a:cxnLst/>
            <a:rect l="l" t="t" r="r" b="b"/>
            <a:pathLst>
              <a:path w="4116356" h="4116356">
                <a:moveTo>
                  <a:pt x="0" y="0"/>
                </a:moveTo>
                <a:lnTo>
                  <a:pt x="4116355" y="0"/>
                </a:lnTo>
                <a:lnTo>
                  <a:pt x="4116355" y="4116356"/>
                </a:lnTo>
                <a:lnTo>
                  <a:pt x="0" y="41163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4A7985C2-7EF2-3713-8A28-826D1A732504}"/>
              </a:ext>
            </a:extLst>
          </p:cNvPr>
          <p:cNvSpPr/>
          <p:nvPr/>
        </p:nvSpPr>
        <p:spPr>
          <a:xfrm>
            <a:off x="-1734919" y="0"/>
            <a:ext cx="2170725" cy="2170725"/>
          </a:xfrm>
          <a:custGeom>
            <a:avLst/>
            <a:gdLst/>
            <a:ahLst/>
            <a:cxnLst/>
            <a:rect l="l" t="t" r="r" b="b"/>
            <a:pathLst>
              <a:path w="3256087" h="3256087">
                <a:moveTo>
                  <a:pt x="0" y="0"/>
                </a:moveTo>
                <a:lnTo>
                  <a:pt x="3256087" y="0"/>
                </a:lnTo>
                <a:lnTo>
                  <a:pt x="3256087" y="3256087"/>
                </a:lnTo>
                <a:lnTo>
                  <a:pt x="0" y="32560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B0F906B4-6E56-4A47-BF47-8EEC4E03DB94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45204" y="973781"/>
            <a:ext cx="3303657" cy="27108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70B8355-C0B5-F045-27A6-0A57E3D8AB42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87636" y="698594"/>
            <a:ext cx="3974400" cy="3261174"/>
          </a:xfrm>
          <a:prstGeom prst="rect">
            <a:avLst/>
          </a:prstGeom>
          <a:effectLst>
            <a:outerShdw blurRad="50800" dist="50800" dir="4200000" sx="1000" sy="1000" algn="ctr" rotWithShape="0">
              <a:srgbClr val="000000">
                <a:alpha val="43137"/>
              </a:srgbClr>
            </a:outerShdw>
            <a:reflection blurRad="6350" stA="52000" endA="300" endPos="35000" dir="5400000" sy="-100000" algn="bl" rotWithShape="0"/>
            <a:softEdge rad="0"/>
          </a:effec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4F94A2D-CEDB-06DB-FAE2-4551C79DDF4C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001701" y="1043676"/>
            <a:ext cx="3304800" cy="2706007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C5566522-0D75-46EA-64B1-9D5F063C709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950518" y="1128168"/>
            <a:ext cx="3304800" cy="2730053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A1FAC565-7D7A-4779-87EE-5DAA7890255B}"/>
              </a:ext>
            </a:extLst>
          </p:cNvPr>
          <p:cNvSpPr txBox="1"/>
          <p:nvPr/>
        </p:nvSpPr>
        <p:spPr>
          <a:xfrm>
            <a:off x="2876338" y="3940404"/>
            <a:ext cx="710664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chemeClr val="bg1"/>
                </a:solidFill>
              </a:rPr>
              <a:t>We used an python based environment to develop our program.</a:t>
            </a:r>
          </a:p>
          <a:p>
            <a:endParaRPr lang="en-IN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1122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71DFE-74AB-DCE2-7EBA-1A15D1837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4F36E660-05C2-8C0B-49D9-08946967AB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7213" y="-63317"/>
            <a:ext cx="13393320" cy="7330597"/>
          </a:xfrm>
          <a:prstGeom prst="rect">
            <a:avLst/>
          </a:prstGeom>
          <a:effectLst>
            <a:reflection blurRad="1270000" stA="4000" endPos="65000" dist="50800" dir="5400000" sy="-100000" algn="bl" rotWithShape="0"/>
          </a:effectLst>
        </p:spPr>
      </p:pic>
      <p:sp>
        <p:nvSpPr>
          <p:cNvPr id="19" name="Freeform 19">
            <a:extLst>
              <a:ext uri="{FF2B5EF4-FFF2-40B4-BE49-F238E27FC236}">
                <a16:creationId xmlns:a16="http://schemas.microsoft.com/office/drawing/2014/main" id="{8C0CC2EC-6E10-A307-3D5E-529526639809}"/>
              </a:ext>
            </a:extLst>
          </p:cNvPr>
          <p:cNvSpPr/>
          <p:nvPr/>
        </p:nvSpPr>
        <p:spPr>
          <a:xfrm>
            <a:off x="10272321" y="-1435435"/>
            <a:ext cx="2744237" cy="2744237"/>
          </a:xfrm>
          <a:custGeom>
            <a:avLst/>
            <a:gdLst/>
            <a:ahLst/>
            <a:cxnLst/>
            <a:rect l="l" t="t" r="r" b="b"/>
            <a:pathLst>
              <a:path w="4116356" h="4116356">
                <a:moveTo>
                  <a:pt x="0" y="0"/>
                </a:moveTo>
                <a:lnTo>
                  <a:pt x="4116355" y="0"/>
                </a:lnTo>
                <a:lnTo>
                  <a:pt x="4116355" y="4116356"/>
                </a:lnTo>
                <a:lnTo>
                  <a:pt x="0" y="41163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55C4E1B4-B5A2-D18E-C55E-59E273833F6F}"/>
              </a:ext>
            </a:extLst>
          </p:cNvPr>
          <p:cNvSpPr/>
          <p:nvPr/>
        </p:nvSpPr>
        <p:spPr>
          <a:xfrm>
            <a:off x="-1734919" y="0"/>
            <a:ext cx="2170725" cy="2170725"/>
          </a:xfrm>
          <a:custGeom>
            <a:avLst/>
            <a:gdLst/>
            <a:ahLst/>
            <a:cxnLst/>
            <a:rect l="l" t="t" r="r" b="b"/>
            <a:pathLst>
              <a:path w="3256087" h="3256087">
                <a:moveTo>
                  <a:pt x="0" y="0"/>
                </a:moveTo>
                <a:lnTo>
                  <a:pt x="3256087" y="0"/>
                </a:lnTo>
                <a:lnTo>
                  <a:pt x="3256087" y="3256087"/>
                </a:lnTo>
                <a:lnTo>
                  <a:pt x="0" y="32560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DABDF5A-56C4-6C81-8260-3EAB4D75AC3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737096" y="982356"/>
            <a:ext cx="3303657" cy="27108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6A3B067-DC12-01F7-96BE-3B6954EB5855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35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4501959" y="968321"/>
            <a:ext cx="3303658" cy="2710800"/>
          </a:xfrm>
          <a:prstGeom prst="rect">
            <a:avLst/>
          </a:prstGeom>
          <a:effectLst>
            <a:outerShdw blurRad="50800" dist="50800" dir="4200000" sx="1000" sy="1000" algn="ctr" rotWithShape="0">
              <a:srgbClr val="000000">
                <a:alpha val="43137"/>
              </a:srgbClr>
            </a:outerShdw>
            <a:softEdge rad="0"/>
          </a:effec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2205B8C-B896-D396-AF42-91275F873B2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82856" y="692921"/>
            <a:ext cx="3983336" cy="3261600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AB606BE6-52E0-D7C5-09D9-D823841DF78E}"/>
              </a:ext>
            </a:extLst>
          </p:cNvPr>
          <p:cNvPicPr>
            <a:picLocks noChangeAspect="1"/>
          </p:cNvPicPr>
          <p:nvPr/>
        </p:nvPicPr>
        <p:blipFill>
          <a:blip r:embed="rId10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587172" y="1152687"/>
            <a:ext cx="3304800" cy="2730053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D75B7A97-3250-9C96-2AA6-CE99E461EF7C}"/>
              </a:ext>
            </a:extLst>
          </p:cNvPr>
          <p:cNvSpPr txBox="1"/>
          <p:nvPr/>
        </p:nvSpPr>
        <p:spPr>
          <a:xfrm>
            <a:off x="2876338" y="3940404"/>
            <a:ext cx="710664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chemeClr val="bg1"/>
                </a:solidFill>
              </a:rPr>
              <a:t>We used VS Code IDE to develop our program as it supports Python and has a Smooth UI making the development easier</a:t>
            </a:r>
            <a:endParaRPr lang="en-US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07533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5A241-6EC7-0564-8EC0-A510A64F0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39692C39-58D6-BBCC-B044-D8F1E502A8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7213" y="-63317"/>
            <a:ext cx="13393320" cy="7330597"/>
          </a:xfrm>
          <a:prstGeom prst="rect">
            <a:avLst/>
          </a:prstGeom>
          <a:effectLst>
            <a:reflection blurRad="1270000" stA="4000" endPos="65000" dist="50800" dir="5400000" sy="-100000" algn="bl" rotWithShape="0"/>
          </a:effectLst>
        </p:spPr>
      </p:pic>
      <p:sp>
        <p:nvSpPr>
          <p:cNvPr id="19" name="Freeform 19">
            <a:extLst>
              <a:ext uri="{FF2B5EF4-FFF2-40B4-BE49-F238E27FC236}">
                <a16:creationId xmlns:a16="http://schemas.microsoft.com/office/drawing/2014/main" id="{84EC39D0-9F29-526E-88CD-F0E0C8CF7967}"/>
              </a:ext>
            </a:extLst>
          </p:cNvPr>
          <p:cNvSpPr/>
          <p:nvPr/>
        </p:nvSpPr>
        <p:spPr>
          <a:xfrm>
            <a:off x="10272321" y="-1435435"/>
            <a:ext cx="2744237" cy="2744237"/>
          </a:xfrm>
          <a:custGeom>
            <a:avLst/>
            <a:gdLst/>
            <a:ahLst/>
            <a:cxnLst/>
            <a:rect l="l" t="t" r="r" b="b"/>
            <a:pathLst>
              <a:path w="4116356" h="4116356">
                <a:moveTo>
                  <a:pt x="0" y="0"/>
                </a:moveTo>
                <a:lnTo>
                  <a:pt x="4116355" y="0"/>
                </a:lnTo>
                <a:lnTo>
                  <a:pt x="4116355" y="4116356"/>
                </a:lnTo>
                <a:lnTo>
                  <a:pt x="0" y="41163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D8283840-78DC-1054-72F2-DAE24B2F1EFF}"/>
              </a:ext>
            </a:extLst>
          </p:cNvPr>
          <p:cNvSpPr/>
          <p:nvPr/>
        </p:nvSpPr>
        <p:spPr>
          <a:xfrm>
            <a:off x="-1734919" y="0"/>
            <a:ext cx="2170725" cy="2170725"/>
          </a:xfrm>
          <a:custGeom>
            <a:avLst/>
            <a:gdLst/>
            <a:ahLst/>
            <a:cxnLst/>
            <a:rect l="l" t="t" r="r" b="b"/>
            <a:pathLst>
              <a:path w="3256087" h="3256087">
                <a:moveTo>
                  <a:pt x="0" y="0"/>
                </a:moveTo>
                <a:lnTo>
                  <a:pt x="3256087" y="0"/>
                </a:lnTo>
                <a:lnTo>
                  <a:pt x="3256087" y="3256087"/>
                </a:lnTo>
                <a:lnTo>
                  <a:pt x="0" y="32560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84A2BA0C-8F8F-FCB1-3937-0689BFBB1FF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09542" y="941835"/>
            <a:ext cx="3304800" cy="271173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E5BA6A4-CB2B-5C5D-CDFF-F26BF1875B3D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4082918" y="946631"/>
            <a:ext cx="3303658" cy="2710800"/>
          </a:xfrm>
          <a:prstGeom prst="rect">
            <a:avLst/>
          </a:prstGeom>
          <a:effectLst>
            <a:outerShdw blurRad="50800" dist="50800" dir="4200000" sx="1000" sy="1000" algn="ctr" rotWithShape="0">
              <a:srgbClr val="000000">
                <a:alpha val="43137"/>
              </a:srgbClr>
            </a:outerShdw>
            <a:softEdge rad="0"/>
          </a:effec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26682A3-7AE2-CE80-8F83-6D7F184595E8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-4084052" y="946630"/>
            <a:ext cx="3304800" cy="270600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06B8872-5D2B-920D-6AB5-702A8A735D0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22645" y="773674"/>
            <a:ext cx="3985200" cy="3292123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7E309B07-B5DB-AD58-EA3F-94694C89CAA4}"/>
              </a:ext>
            </a:extLst>
          </p:cNvPr>
          <p:cNvSpPr txBox="1"/>
          <p:nvPr/>
        </p:nvSpPr>
        <p:spPr>
          <a:xfrm>
            <a:off x="3057862" y="4065797"/>
            <a:ext cx="688316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Google Gemini :</a:t>
            </a:r>
          </a:p>
          <a:p>
            <a:r>
              <a:rPr lang="en-IN" sz="3600" dirty="0">
                <a:solidFill>
                  <a:schemeClr val="bg1"/>
                </a:solidFill>
              </a:rPr>
              <a:t>In order to make the Jarvis smart and dynamic we used Google Gemini To generate dynamic responses</a:t>
            </a:r>
          </a:p>
        </p:txBody>
      </p:sp>
    </p:spTree>
    <p:extLst>
      <p:ext uri="{BB962C8B-B14F-4D97-AF65-F5344CB8AC3E}">
        <p14:creationId xmlns:p14="http://schemas.microsoft.com/office/powerpoint/2010/main" val="24161371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210</Words>
  <Application>Microsoft Office PowerPoint</Application>
  <PresentationFormat>Widescreen</PresentationFormat>
  <Paragraphs>34</Paragraphs>
  <Slides>13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Arial Black</vt:lpstr>
      <vt:lpstr>Calibri</vt:lpstr>
      <vt:lpstr>Calibri Light</vt:lpstr>
      <vt:lpstr>Codec Pro ExtraBold</vt:lpstr>
      <vt:lpstr>Open Sauce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Saheem Nakhwa</dc:creator>
  <cp:lastModifiedBy>vedant surve</cp:lastModifiedBy>
  <cp:revision>16</cp:revision>
  <dcterms:created xsi:type="dcterms:W3CDTF">2024-10-22T13:36:00Z</dcterms:created>
  <dcterms:modified xsi:type="dcterms:W3CDTF">2025-04-15T03:37:06Z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CCF1630E7A0E42D38B1FD431469F2D51_12</vt:lpwstr>
  </property>
  <property fmtid="{D5CDD505-2E9C-101B-9397-08002B2CF9AE}" pid="3" name="KSOProductBuildVer">
    <vt:lpwstr>1033-12.2.0.18911</vt:lpwstr>
  </property>
</Properties>
</file>